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4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82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49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1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0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8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7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7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3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55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COURSERA/IBM APPLIED DATA SCIENCE </a:t>
            </a:r>
            <a:br>
              <a:rPr lang="en-US" b="1" dirty="0" smtClean="0"/>
            </a:br>
            <a:r>
              <a:rPr lang="en-US" b="1" dirty="0" smtClean="0"/>
              <a:t>CAPSTONE PROJECT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 algn="ctr">
              <a:buNone/>
            </a:pPr>
            <a:endParaRPr lang="en-US" sz="2800" dirty="0" smtClean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 smtClean="0"/>
          </a:p>
          <a:p>
            <a:pPr marL="0" indent="0" algn="ctr">
              <a:buNone/>
            </a:pPr>
            <a:r>
              <a:rPr lang="en-US" sz="2800" dirty="0" smtClean="0"/>
              <a:t>Opening</a:t>
            </a:r>
            <a:r>
              <a:rPr lang="fr-FR" sz="2800" dirty="0" smtClean="0"/>
              <a:t> a new </a:t>
            </a:r>
            <a:r>
              <a:rPr lang="en-US" sz="2800" dirty="0" smtClean="0"/>
              <a:t>Fried Chicken Restaurant</a:t>
            </a:r>
            <a:r>
              <a:rPr lang="fr-FR" sz="2800" dirty="0" smtClean="0"/>
              <a:t> in Toronto   CANADA</a:t>
            </a:r>
          </a:p>
          <a:p>
            <a:endParaRPr lang="en-US" dirty="0"/>
          </a:p>
        </p:txBody>
      </p:sp>
      <p:pic>
        <p:nvPicPr>
          <p:cNvPr id="1026" name="Picture 2" descr="C:\Users\kty\Desktop\Data_Science_Projects\IBM_Data_Science_Capstone_Project\photos\chicke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76200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3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 smtClean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 smtClean="0"/>
              <a:t>Location of a new business is one of the most important decisions that will determine whether it will be a success or a failure.</a:t>
            </a:r>
          </a:p>
          <a:p>
            <a:pPr marL="0" indent="0" algn="ctr">
              <a:buNone/>
            </a:pPr>
            <a:r>
              <a:rPr lang="en-US" sz="2800" dirty="0" smtClean="0"/>
              <a:t>In this project we will try to find the optimal locations for a new Fried Chicken Restaurant in Toronto, Canada.</a:t>
            </a:r>
          </a:p>
        </p:txBody>
      </p:sp>
    </p:spTree>
    <p:extLst>
      <p:ext uri="{BB962C8B-B14F-4D97-AF65-F5344CB8AC3E}">
        <p14:creationId xmlns:p14="http://schemas.microsoft.com/office/powerpoint/2010/main" val="395545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Data Required</a:t>
            </a:r>
            <a:endParaRPr lang="en-US" b="1" dirty="0"/>
          </a:p>
          <a:p>
            <a:pPr algn="ctr"/>
            <a:r>
              <a:rPr lang="en-US" sz="2000" dirty="0" smtClean="0"/>
              <a:t>List </a:t>
            </a:r>
            <a:r>
              <a:rPr lang="en-US" sz="2000" dirty="0"/>
              <a:t>of </a:t>
            </a:r>
            <a:r>
              <a:rPr lang="en-US" sz="2000" dirty="0" smtClean="0"/>
              <a:t>neighborhoods </a:t>
            </a:r>
            <a:r>
              <a:rPr lang="en-US" sz="2000" dirty="0"/>
              <a:t>in </a:t>
            </a:r>
            <a:r>
              <a:rPr lang="en-US" sz="2000" dirty="0" smtClean="0"/>
              <a:t>Toronto</a:t>
            </a:r>
            <a:endParaRPr lang="en-US" sz="2000" dirty="0"/>
          </a:p>
          <a:p>
            <a:pPr algn="ctr"/>
            <a:r>
              <a:rPr lang="en-US" sz="2000" dirty="0" smtClean="0"/>
              <a:t>Latitude </a:t>
            </a:r>
            <a:r>
              <a:rPr lang="en-US" sz="2000" dirty="0"/>
              <a:t>and longitude coordinates of the </a:t>
            </a:r>
            <a:r>
              <a:rPr lang="en-US" sz="2000" dirty="0" smtClean="0"/>
              <a:t>neighborhoods</a:t>
            </a:r>
            <a:endParaRPr lang="en-US" sz="2000" dirty="0"/>
          </a:p>
          <a:p>
            <a:pPr algn="ctr"/>
            <a:r>
              <a:rPr lang="en-US" sz="2000" dirty="0" smtClean="0"/>
              <a:t>Venue data</a:t>
            </a:r>
            <a:endParaRPr lang="en-US" sz="2000" dirty="0"/>
          </a:p>
          <a:p>
            <a:pPr marL="0" indent="0" algn="ctr">
              <a:buNone/>
            </a:pPr>
            <a:r>
              <a:rPr lang="en-US" b="1" dirty="0" smtClean="0"/>
              <a:t>Sources of Data</a:t>
            </a:r>
            <a:endParaRPr lang="en-US" b="1" dirty="0"/>
          </a:p>
          <a:p>
            <a:pPr algn="ctr"/>
            <a:r>
              <a:rPr lang="en-US" sz="2000" dirty="0" smtClean="0"/>
              <a:t>Wikipedia page for neighborhoods</a:t>
            </a:r>
          </a:p>
          <a:p>
            <a:pPr marL="0" indent="0" algn="ctr">
              <a:buNone/>
            </a:pPr>
            <a:r>
              <a:rPr lang="en-US" sz="1800" dirty="0" smtClean="0"/>
              <a:t>('https://en.wikipedia.org/wiki/</a:t>
            </a:r>
            <a:r>
              <a:rPr lang="en-US" sz="1800" dirty="0" err="1" smtClean="0"/>
              <a:t>List_of_postal_codes_of_Canada:_M</a:t>
            </a:r>
            <a:r>
              <a:rPr lang="en-US" sz="1800" dirty="0" smtClean="0"/>
              <a:t>')</a:t>
            </a:r>
          </a:p>
          <a:p>
            <a:pPr algn="ctr"/>
            <a:r>
              <a:rPr lang="en-US" sz="2000" dirty="0"/>
              <a:t>T</a:t>
            </a:r>
            <a:r>
              <a:rPr lang="en-US" sz="2000" dirty="0" smtClean="0"/>
              <a:t>he data that contain all the geographical coordinates of the neighborhoods</a:t>
            </a:r>
          </a:p>
          <a:p>
            <a:pPr marL="0" indent="0" algn="ctr">
              <a:buNone/>
            </a:pPr>
            <a:r>
              <a:rPr lang="en-US" sz="1800" dirty="0" smtClean="0"/>
              <a:t>“https://cocl.us/</a:t>
            </a:r>
            <a:r>
              <a:rPr lang="en-US" sz="1800" dirty="0" err="1" smtClean="0"/>
              <a:t>Geospatial_data</a:t>
            </a:r>
            <a:r>
              <a:rPr lang="en-US" sz="1800" dirty="0" smtClean="0"/>
              <a:t>”</a:t>
            </a:r>
          </a:p>
          <a:p>
            <a:pPr algn="ctr"/>
            <a:r>
              <a:rPr lang="en-US" sz="2000" dirty="0" smtClean="0"/>
              <a:t>Foursquare API for venue data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893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dirty="0" smtClean="0"/>
              <a:t>•Web scraping Wikipedia page for neighborhoods </a:t>
            </a:r>
          </a:p>
          <a:p>
            <a:pPr marL="0" indent="0" algn="ctr">
              <a:buNone/>
            </a:pPr>
            <a:r>
              <a:rPr lang="en-US" sz="2800" dirty="0" smtClean="0"/>
              <a:t>•Get the coordinates using </a:t>
            </a:r>
            <a:r>
              <a:rPr lang="en-US" sz="2400" dirty="0" smtClean="0"/>
              <a:t>“https://cocl.us/</a:t>
            </a:r>
            <a:r>
              <a:rPr lang="en-US" sz="2400" dirty="0" err="1" smtClean="0"/>
              <a:t>Geospatial_data</a:t>
            </a:r>
            <a:r>
              <a:rPr lang="en-US" sz="2400" dirty="0" smtClean="0"/>
              <a:t>” </a:t>
            </a:r>
          </a:p>
          <a:p>
            <a:pPr marL="0" indent="0" algn="ctr">
              <a:buNone/>
            </a:pPr>
            <a:r>
              <a:rPr lang="en-US" sz="2800" dirty="0" smtClean="0"/>
              <a:t>•Use Foursquare API to get venue data</a:t>
            </a:r>
          </a:p>
          <a:p>
            <a:pPr marL="0" indent="0" algn="ctr">
              <a:buNone/>
            </a:pPr>
            <a:r>
              <a:rPr lang="en-US" sz="2800" dirty="0" smtClean="0"/>
              <a:t>•Group data by neighborhood and taking the mean of the frequency of occurrence of each venue category</a:t>
            </a:r>
          </a:p>
          <a:p>
            <a:pPr marL="0" indent="0" algn="ctr">
              <a:buNone/>
            </a:pPr>
            <a:r>
              <a:rPr lang="en-US" sz="2800" dirty="0" smtClean="0"/>
              <a:t>•Perform clustering on the data by using k-means clustering</a:t>
            </a:r>
          </a:p>
          <a:p>
            <a:pPr marL="0" indent="0" algn="ctr">
              <a:buNone/>
            </a:pPr>
            <a:r>
              <a:rPr lang="en-US" sz="2800" dirty="0" smtClean="0"/>
              <a:t>•Visualize the clusters in a map using Folium</a:t>
            </a:r>
          </a:p>
          <a:p>
            <a:pPr marL="0" indent="0" algn="ctr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893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Results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600" dirty="0" smtClean="0"/>
              <a:t>Categorized </a:t>
            </a:r>
            <a:r>
              <a:rPr lang="en-US" sz="2600" dirty="0"/>
              <a:t>the </a:t>
            </a:r>
            <a:r>
              <a:rPr lang="en-US" sz="2600" dirty="0" smtClean="0"/>
              <a:t>neighborhoods </a:t>
            </a:r>
            <a:r>
              <a:rPr lang="en-US" sz="2600" dirty="0"/>
              <a:t>into 3 clusters </a:t>
            </a:r>
            <a:r>
              <a:rPr lang="en-US" sz="2600" dirty="0" smtClean="0"/>
              <a:t>:</a:t>
            </a:r>
          </a:p>
          <a:p>
            <a:pPr marL="0" indent="0" algn="ctr">
              <a:buNone/>
            </a:pPr>
            <a:r>
              <a:rPr lang="fr-FR" sz="2600" dirty="0" smtClean="0"/>
              <a:t>Cluster 1 : </a:t>
            </a:r>
          </a:p>
          <a:p>
            <a:pPr marL="0" indent="0" algn="ctr">
              <a:buNone/>
            </a:pPr>
            <a:r>
              <a:rPr lang="en-US" sz="2600" dirty="0" smtClean="0"/>
              <a:t>Most of them are at the center of Toronto. So it means high cost high gain for a new business.</a:t>
            </a:r>
          </a:p>
          <a:p>
            <a:pPr marL="0" indent="0" algn="ctr">
              <a:buNone/>
            </a:pPr>
            <a:r>
              <a:rPr lang="fr-FR" sz="2600" dirty="0"/>
              <a:t> </a:t>
            </a:r>
            <a:r>
              <a:rPr lang="fr-FR" sz="2600" dirty="0" smtClean="0"/>
              <a:t>Cluster 2 : </a:t>
            </a:r>
          </a:p>
          <a:p>
            <a:pPr marL="0" indent="0" algn="ctr">
              <a:buNone/>
            </a:pPr>
            <a:r>
              <a:rPr lang="en-US" sz="2600" dirty="0" smtClean="0"/>
              <a:t>There are mostly business areas with cafe, restaurants, bar, etc. The neighborhoods are a little bit far from the center of Toronto. So it means high cost, high gain.</a:t>
            </a:r>
          </a:p>
          <a:p>
            <a:pPr algn="ctr"/>
            <a:r>
              <a:rPr lang="fr-FR" sz="2600" dirty="0" smtClean="0"/>
              <a:t>Cluster 3 : </a:t>
            </a:r>
          </a:p>
          <a:p>
            <a:pPr marL="0" indent="0" algn="ctr">
              <a:buNone/>
            </a:pPr>
            <a:r>
              <a:rPr lang="en-US" sz="2600" dirty="0" smtClean="0"/>
              <a:t> Relatively low cost.</a:t>
            </a:r>
            <a:endParaRPr lang="en-US" sz="2600" dirty="0"/>
          </a:p>
          <a:p>
            <a:pPr algn="ctr"/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4893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Discussion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dirty="0" smtClean="0"/>
              <a:t>In this project, we only consider one factor, i.e. frequency of venues, there are other factors such as population, demographics and income of residents that could influence the location decision of a new business. However, to the best knowledge of this researcher, such data are not available to the neighborhood level required by this project. Future research could devise a methodology to estimate such data to be used in the clustering algorithm to determine the preferred locations to open a new Fried Chicken Restaurant.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893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RECOMMENDATIONS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1. Regent Park, </a:t>
            </a:r>
            <a:r>
              <a:rPr lang="en-US" dirty="0" err="1" smtClean="0"/>
              <a:t>Harbourfront</a:t>
            </a:r>
            <a:r>
              <a:rPr lang="en-US" dirty="0" smtClean="0"/>
              <a:t>  </a:t>
            </a:r>
          </a:p>
          <a:p>
            <a:pPr marL="0" indent="0">
              <a:buNone/>
            </a:pPr>
            <a:r>
              <a:rPr lang="en-US" dirty="0" smtClean="0"/>
              <a:t>          -  It seems as the best option.</a:t>
            </a:r>
          </a:p>
          <a:p>
            <a:pPr marL="0" indent="0">
              <a:buNone/>
            </a:pPr>
            <a:r>
              <a:rPr lang="en-US" dirty="0" smtClean="0"/>
              <a:t>          -  The venues and restaurants density is not saturated.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-  There is not other chicken restaurant so close.</a:t>
            </a:r>
          </a:p>
          <a:p>
            <a:pPr marL="0" indent="0">
              <a:buNone/>
            </a:pPr>
            <a:r>
              <a:rPr lang="en-US" dirty="0" smtClean="0"/>
              <a:t>          -  The neighborhood is close to the center of the city and other neighborhoods that don't have a fried chicken restaurant </a:t>
            </a:r>
          </a:p>
          <a:p>
            <a:r>
              <a:rPr lang="en-US" dirty="0" smtClean="0"/>
              <a:t>2. Kensington Market, Chinatown, Grange Park </a:t>
            </a:r>
          </a:p>
          <a:p>
            <a:r>
              <a:rPr lang="en-US" dirty="0" smtClean="0"/>
              <a:t>    - It may be the best option but there are two other fried chicken restaurants close by.   </a:t>
            </a:r>
          </a:p>
          <a:p>
            <a:r>
              <a:rPr lang="en-US" dirty="0" smtClean="0"/>
              <a:t>    - High cost, high gain for a new business like Regent Park</a:t>
            </a:r>
          </a:p>
          <a:p>
            <a:r>
              <a:rPr lang="en-US" dirty="0" smtClean="0"/>
              <a:t>3. </a:t>
            </a:r>
            <a:r>
              <a:rPr lang="en-US" dirty="0" err="1" smtClean="0"/>
              <a:t>Willowdale</a:t>
            </a:r>
            <a:r>
              <a:rPr lang="en-US" dirty="0" smtClean="0"/>
              <a:t> </a:t>
            </a:r>
          </a:p>
          <a:p>
            <a:r>
              <a:rPr lang="en-US" dirty="0" smtClean="0"/>
              <a:t>    - Good place to start with a new business in a new country to see how it will work. </a:t>
            </a:r>
          </a:p>
          <a:p>
            <a:r>
              <a:rPr lang="en-US" dirty="0" smtClean="0"/>
              <a:t>    - Relatively low cost, low risk.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93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/>
              <a:t>•</a:t>
            </a:r>
            <a:r>
              <a:rPr lang="en-US" b="1" dirty="0"/>
              <a:t>Answer to business question: </a:t>
            </a:r>
            <a:r>
              <a:rPr lang="en-US" dirty="0" smtClean="0"/>
              <a:t>Regent Park, </a:t>
            </a:r>
            <a:r>
              <a:rPr lang="en-US" dirty="0" err="1" smtClean="0"/>
              <a:t>Harbourfront</a:t>
            </a:r>
            <a:r>
              <a:rPr lang="en-US" dirty="0" smtClean="0"/>
              <a:t>  is </a:t>
            </a:r>
            <a:r>
              <a:rPr lang="en-US" dirty="0" smtClean="0"/>
              <a:t>the </a:t>
            </a:r>
            <a:r>
              <a:rPr lang="en-US" dirty="0"/>
              <a:t>most preferred locations to open a new </a:t>
            </a:r>
            <a:r>
              <a:rPr lang="en-US" dirty="0" smtClean="0"/>
              <a:t>Fried Chicken Restaurant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•Findings of this project will help the relevant stakeholders to capitalize on the opportunities on high potential locations while avoiding overcrowded areas in their decisions </a:t>
            </a:r>
            <a:r>
              <a:rPr lang="en-US" dirty="0" smtClean="0"/>
              <a:t>for same type of  business projects.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93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544</Words>
  <Application>Microsoft Office PowerPoint</Application>
  <PresentationFormat>On-screen Show (4:3)</PresentationFormat>
  <Paragraphs>60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COURSERA/IBM APPLIED DATA SCIENCE  CAPSTONE PROJECT</vt:lpstr>
      <vt:lpstr>BUSINESS PROBLEM</vt:lpstr>
      <vt:lpstr>Data</vt:lpstr>
      <vt:lpstr>Methodology</vt:lpstr>
      <vt:lpstr>Results</vt:lpstr>
      <vt:lpstr>Discussion</vt:lpstr>
      <vt:lpstr>RECOMMENDATIONS</vt:lpstr>
      <vt:lpstr>CONCLUSION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kty</dc:creator>
  <cp:lastModifiedBy>kty</cp:lastModifiedBy>
  <cp:revision>9</cp:revision>
  <dcterms:created xsi:type="dcterms:W3CDTF">2006-08-16T00:00:00Z</dcterms:created>
  <dcterms:modified xsi:type="dcterms:W3CDTF">2020-05-11T22:01:54Z</dcterms:modified>
</cp:coreProperties>
</file>